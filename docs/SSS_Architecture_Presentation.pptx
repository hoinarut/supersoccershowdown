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8"/>
  </p:normalViewPr>
  <p:slideViewPr>
    <p:cSldViewPr snapToGrid="0" snapToObjects="1">
      <p:cViewPr>
        <p:scale>
          <a:sx n="162" d="100"/>
          <a:sy n="162" d="100"/>
        </p:scale>
        <p:origin x="52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60074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dirty="0">
                <a:solidFill>
                  <a:srgbClr val="FFFFFF"/>
                </a:solidFill>
                <a:latin typeface="Calibri"/>
              </a:rPr>
              <a:t>S</a:t>
            </a:r>
            <a:r>
              <a:rPr lang="en-US" sz="4800" b="1" dirty="0">
                <a:solidFill>
                  <a:srgbClr val="FFFFFF"/>
                </a:solidFill>
                <a:latin typeface="Calibri"/>
              </a:rPr>
              <a:t>uper 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S</a:t>
            </a:r>
            <a:r>
              <a:rPr lang="en-US" sz="4800" b="1" dirty="0">
                <a:solidFill>
                  <a:srgbClr val="FFFFFF"/>
                </a:solidFill>
                <a:latin typeface="Calibri"/>
              </a:rPr>
              <a:t>occer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S</a:t>
            </a:r>
            <a:r>
              <a:rPr lang="en-US" sz="4800" b="1" dirty="0" err="1">
                <a:solidFill>
                  <a:srgbClr val="FFFFFF"/>
                </a:solidFill>
                <a:latin typeface="Calibri"/>
              </a:rPr>
              <a:t>howdon</a:t>
            </a:r>
            <a:endParaRPr sz="4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A8C5C5"/>
                </a:solidFill>
                <a:latin typeface="Calibri"/>
              </a:rPr>
              <a:t>Domain, Architecture &amp; Testability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44340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6B7C88"/>
                </a:solidFill>
                <a:latin typeface="Calibri"/>
              </a:rPr>
              <a:t>Fantasy team builder  ·  .NET 10 hexagonal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2/14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What SSS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D4F5C"/>
                </a:solidFill>
                <a:latin typeface="Calibri"/>
              </a:rPr>
              <a:t>Fantasy sports team builder over external character APIs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D4F5C"/>
                </a:solidFill>
                <a:latin typeface="Calibri"/>
              </a:rPr>
              <a:t>Pick a Universe (Star Wars or Pokémon), name a team, set attackers/defenders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D4F5C"/>
                </a:solidFill>
                <a:latin typeface="Calibri"/>
              </a:rPr>
              <a:t>System builds a 5-player roster and assigns Goalie / Defence / Offence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D4F5C"/>
                </a:solidFill>
                <a:latin typeface="Calibri"/>
              </a:rPr>
              <a:t>Stack: .NET 10 Web API · Mediator CQRS · EF Core · Angular · AWS Lambda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97280"/>
            <a:ext cx="38404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123443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3D"/>
                </a:solidFill>
                <a:latin typeface="Calibri"/>
              </a:rPr>
              <a:t>Talk agenda (~25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00200"/>
            <a:ext cx="347472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1. Domain &amp; data structures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2. Architecture &amp; patterns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3. Tests &amp; hexagonal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3/14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07A3D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Domain &amp;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A8C5C5"/>
                </a:solidFill>
                <a:latin typeface="Calibri"/>
              </a:rPr>
              <a:t>How the fantasy-team domain is modelled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4/14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Domain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Reference data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Name, IsEnabled, ApiUrl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Seeded: Pokémon, Star Wars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1 ──&lt; many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3D"/>
                </a:solidFill>
                <a:latin typeface="Calibri"/>
              </a:rPr>
              <a:t>Team  (aggregate root)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Name, UniverseId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AttackersCount / DefendersCount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List&lt;Player&gt; roster (max 5)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Owns add / assign / 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Player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Name, Height, Weight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PlayerType enum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ExternalResourceId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Child of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D4F5C"/>
                </a:solidFill>
                <a:latin typeface="Calibri"/>
              </a:rPr>
              <a:t>BaseEntity → int Id; no separate value objects (height/weight are double)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D4F5C"/>
                </a:solidFill>
                <a:latin typeface="Calibri"/>
              </a:rPr>
              <a:t>PlayerType: Goalie | Defence | Offence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D4F5C"/>
                </a:solidFill>
                <a:latin typeface="Calibri"/>
              </a:rPr>
              <a:t>Constants: NumberOfPlayers = 5; shared error messages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D4F5C"/>
                </a:solidFill>
                <a:latin typeface="Calibri"/>
              </a:rPr>
              <a:t>Data structures: List&lt;Player&gt;, List&lt;int&gt; resource IDs, IEnumerable&lt;IUniverseDataService&gt;, IQueryable via repos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5/14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Domain rules live on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AddPlayer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Guards roster size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Throws when count == 5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Encapsulation: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private setters + behavior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methods — not anemic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0515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3D"/>
                </a:solidFill>
                <a:latin typeface="Calibri"/>
              </a:rPr>
              <a:t>SetPlayerTypes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1. Tallest → Goalie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   (tie: name ascending)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2. Heaviest × Defenders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   → Defence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3. Shortest × Attackers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   → Offence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Uses UnassignedPlayers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(Type == 0 filter)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1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ValidateSetup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Exactly 5 players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Exactly 1 Goalie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Defence count matches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  DefendersCount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Offence count matches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  AttackersCount</a:t>
            </a:r>
          </a:p>
          <a:p>
            <a:pPr>
              <a:spcAft>
                <a:spcPts val="400"/>
              </a:spcAft>
            </a:pPr>
            <a:endParaRPr sz="1300" b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Invariant check before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6/14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07A3D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Architecture &amp; design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49503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dirty="0">
                <a:solidFill>
                  <a:srgbClr val="A8C5C5"/>
                </a:solidFill>
                <a:latin typeface="Calibri"/>
              </a:rPr>
              <a:t>Hexagonal layout</a:t>
            </a:r>
            <a:r>
              <a:rPr lang="en-US" dirty="0">
                <a:solidFill>
                  <a:srgbClr val="A8C5C5"/>
                </a:solidFill>
                <a:latin typeface="Calibri"/>
              </a:rPr>
              <a:t> and other applied design </a:t>
            </a:r>
            <a:r>
              <a:rPr lang="en-US" dirty="0" err="1">
                <a:solidFill>
                  <a:srgbClr val="A8C5C5"/>
                </a:solidFill>
                <a:latin typeface="Calibri"/>
              </a:rPr>
              <a:t>paterns</a:t>
            </a:r>
            <a:endParaRPr sz="1800" b="0" dirty="0">
              <a:solidFill>
                <a:srgbClr val="A8C5C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7/14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Hexagonal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A"/>
                </a:solidFill>
                <a:latin typeface="Calibri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Driving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D4F5C"/>
                </a:solidFill>
                <a:latin typeface="Calibri"/>
              </a:rPr>
              <a:t>Controllers · FluentValidation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D4F5C"/>
                </a:solidFill>
                <a:latin typeface="Calibri"/>
              </a:rPr>
              <a:t>Mediator send · composition root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972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A"/>
                </a:solidFill>
                <a:latin typeface="Calibri"/>
              </a:rPr>
              <a:t>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D4F5C"/>
                </a:solidFill>
                <a:latin typeface="Calibri"/>
              </a:rPr>
              <a:t>Handlers (CQRS)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D4F5C"/>
                </a:solidFill>
                <a:latin typeface="Calibri"/>
              </a:rPr>
              <a:t>TeamManager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0F2C3A"/>
          </a:solidFill>
          <a:ln>
            <a:solidFill>
              <a:srgbClr val="1A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7A3D"/>
                </a:solidFill>
                <a:latin typeface="Calibri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4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C5D5D5"/>
                </a:solidFill>
                <a:latin typeface="Calibri"/>
              </a:rPr>
              <a:t>Entities · enums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D5D5"/>
                </a:solidFill>
                <a:latin typeface="Calibri"/>
              </a:rPr>
              <a:t>Ports (interfaces)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0972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1280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A"/>
                </a:solidFill>
                <a:latin typeface="Calibri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691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6B6B"/>
                </a:solidFill>
                <a:latin typeface="Calibri"/>
              </a:rPr>
              <a:t>Driven 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9456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D4F5C"/>
                </a:solidFill>
                <a:latin typeface="Calibri"/>
              </a:rPr>
              <a:t>EF repos · HTTP clients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D4F5C"/>
                </a:solidFill>
                <a:latin typeface="Calibri"/>
              </a:rPr>
              <a:t>SWAPI / PokéAPI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D4F5C"/>
                </a:solidFill>
                <a:latin typeface="Calibri"/>
              </a:rPr>
              <a:t>Dependency direction:  Api → Application → Domain ← Infrastructure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D4F5C"/>
                </a:solidFill>
                <a:latin typeface="Calibri"/>
              </a:rPr>
              <a:t>Ports live in Domain (IRepository, IUniverseDataService, ITeamManager). Adapters implement them in Infrastructure.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D4F5C"/>
                </a:solidFill>
                <a:latin typeface="Calibri"/>
              </a:rPr>
              <a:t>Domain has zero project/NuGet dependencies — the innermost hexagon.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8/14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Create-team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1031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07A3D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POST /teams</a:t>
            </a:r>
          </a:p>
          <a:p>
            <a:r>
              <a:rPr sz="1300" b="0">
                <a:solidFill>
                  <a:srgbClr val="3D4F5C"/>
                </a:solidFill>
                <a:latin typeface="Calibri"/>
              </a:rPr>
              <a:t>FluentValidation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6B6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371600"/>
            <a:ext cx="21031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07A3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Mediator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CreateTeamCommand</a:t>
            </a:r>
          </a:p>
          <a:p>
            <a:r>
              <a:rPr sz="1300" b="0">
                <a:solidFill>
                  <a:srgbClr val="3D4F5C"/>
                </a:solidFill>
                <a:latin typeface="Calibri"/>
              </a:rPr>
              <a:t>→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6B6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371600"/>
            <a:ext cx="21031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07A3D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TeamManager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Pick strategy</a:t>
            </a:r>
          </a:p>
          <a:p>
            <a:r>
              <a:rPr sz="1300" b="0">
                <a:solidFill>
                  <a:srgbClr val="3D4F5C"/>
                </a:solidFill>
                <a:latin typeface="Calibri"/>
              </a:rPr>
              <a:t>Fetch &amp; build roster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6B6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1371600"/>
            <a:ext cx="21031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07A3D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IUniverseDataService</a:t>
            </a:r>
          </a:p>
          <a:p>
            <a:r>
              <a:rPr sz="1300" b="0">
                <a:solidFill>
                  <a:srgbClr val="3D4F5C"/>
                </a:solidFill>
                <a:latin typeface="Calibri"/>
              </a:rPr>
              <a:t>I*Repository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774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6B6B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371600"/>
            <a:ext cx="210312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07A3D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Persist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46888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EF Core save</a:t>
            </a:r>
          </a:p>
          <a:p>
            <a:r>
              <a:rPr sz="1300" b="0">
                <a:solidFill>
                  <a:srgbClr val="3D4F5C"/>
                </a:solidFill>
                <a:latin typeface="Calibri"/>
              </a:rPr>
              <a:t>return TeamDto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97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D4F5C"/>
                </a:solidFill>
                <a:latin typeface="Calibri"/>
              </a:rPr>
              <a:t>Strategy selection: IEnumerable&lt;IUniverseDataService&gt;.FirstOrDefault(s =&gt; s.CanHandle(universe))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D4F5C"/>
                </a:solidFill>
                <a:latin typeface="Calibri"/>
              </a:rPr>
              <a:t>Random unused external IDs → GeneratePlayer → AddPlayer → SetPlayerTypes → ValidateSetup → save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D4F5C"/>
                </a:solidFill>
                <a:latin typeface="Calibri"/>
              </a:rPr>
              <a:t>New universe = new IUniverseDataService + DI registration — TeamManager stays closed for modification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9/14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SOLID, DRY &amp;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6984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005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Single 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Controllers = HTTP; Team = roster rules; handlers =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Open/Closed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57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New universe via IUniverseDataService — no TeamManager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6243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60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Liskov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34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SW / Pokémon services &amp; repos honor their ports interchangeably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39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33755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Interface Segregation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1187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Narrow ports: Exists, GetUsedExternalResourceIds — not one fat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6908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7880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14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C3A"/>
                </a:solidFill>
                <a:latin typeface="Calibri"/>
              </a:rPr>
              <a:t>Dependency Inversion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89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4F5C"/>
                </a:solidFill>
                <a:latin typeface="Calibri"/>
              </a:rPr>
              <a:t>Application depends on Domain ports; Infra supplies adapters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051560"/>
            <a:ext cx="48463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1188719"/>
            <a:ext cx="12847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E07A3D"/>
                </a:solidFill>
                <a:latin typeface="Calibri"/>
              </a:rPr>
              <a:t>Other patterns</a:t>
            </a:r>
            <a:endParaRPr sz="1400" b="1" dirty="0">
              <a:solidFill>
                <a:srgbClr val="E07A3D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40880" y="1554480"/>
            <a:ext cx="4480559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• Ports &amp; Adapters (hexagonal)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• Repository + </a:t>
            </a:r>
            <a:r>
              <a:rPr sz="1300" b="0" dirty="0" err="1">
                <a:solidFill>
                  <a:srgbClr val="3D4F5C"/>
                </a:solidFill>
                <a:latin typeface="Calibri"/>
              </a:rPr>
              <a:t>RepositoryBase</a:t>
            </a:r>
            <a:r>
              <a:rPr sz="1300" b="0" dirty="0">
                <a:solidFill>
                  <a:srgbClr val="3D4F5C"/>
                </a:solidFill>
                <a:latin typeface="Calibri"/>
              </a:rPr>
              <a:t>&lt;T&gt;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• Strategy (</a:t>
            </a:r>
            <a:r>
              <a:rPr sz="1300" b="0" dirty="0" err="1">
                <a:solidFill>
                  <a:srgbClr val="3D4F5C"/>
                </a:solidFill>
                <a:latin typeface="Calibri"/>
              </a:rPr>
              <a:t>CanHandle</a:t>
            </a:r>
            <a:r>
              <a:rPr sz="1300" b="0" dirty="0">
                <a:solidFill>
                  <a:srgbClr val="3D4F5C"/>
                </a:solidFill>
                <a:latin typeface="Calibri"/>
              </a:rPr>
              <a:t> universe)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• CQRS + Mediator handlers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• Aggregate (Team boundary)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• </a:t>
            </a:r>
            <a:r>
              <a:rPr lang="en-US" sz="1300" b="0" dirty="0">
                <a:solidFill>
                  <a:srgbClr val="3D4F5C"/>
                </a:solidFill>
                <a:latin typeface="Calibri"/>
              </a:rPr>
              <a:t>YAGNI</a:t>
            </a:r>
            <a:endParaRPr sz="1300" b="0" dirty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D4F5C"/>
                </a:solidFill>
              </a:rPr>
              <a:t>• </a:t>
            </a:r>
            <a:r>
              <a:rPr sz="1300" b="0" dirty="0">
                <a:solidFill>
                  <a:srgbClr val="3D4F5C"/>
                </a:solidFill>
                <a:latin typeface="Calibri"/>
              </a:rPr>
              <a:t>DRY: shared Constants, seed data,</a:t>
            </a:r>
            <a:r>
              <a:rPr lang="en-US" sz="1300" b="0" dirty="0">
                <a:solidFill>
                  <a:srgbClr val="3D4F5C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3D4F5C"/>
                </a:solidFill>
                <a:latin typeface="Calibri"/>
              </a:rPr>
              <a:t>RepositoryBase</a:t>
            </a:r>
            <a:r>
              <a:rPr sz="1300" b="0" dirty="0">
                <a:solidFill>
                  <a:srgbClr val="3D4F5C"/>
                </a:solidFill>
                <a:latin typeface="Calibri"/>
              </a:rPr>
              <a:t>, test base 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10/14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07A3D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Tests &amp; testability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6B7C88"/>
                </a:solidFill>
                <a:latin typeface="Calibri"/>
              </a:rPr>
              <a:t>SSS · Architecture walkthrough  ·  11/14</a:t>
            </a:r>
          </a:p>
          <a:p>
            <a:endParaRPr sz="1100" b="0" dirty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What is tested — and how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Domain  ·  pure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TeamTests — roster limits, role algorithm,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tie-breaks, ValidateSetup (~14 cases)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PlayerTests — measurements &amp; type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No DB, no HTTP, no mocks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1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3D"/>
                </a:solidFill>
                <a:latin typeface="Calibri"/>
              </a:rPr>
              <a:t>Application  ·  port mocks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12064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dirty="0" err="1">
                <a:solidFill>
                  <a:srgbClr val="3D4F5C"/>
                </a:solidFill>
                <a:latin typeface="Calibri"/>
              </a:rPr>
              <a:t>TeamManagerTests</a:t>
            </a:r>
            <a:r>
              <a:rPr sz="1300" b="0" dirty="0">
                <a:solidFill>
                  <a:srgbClr val="3D4F5C"/>
                </a:solidFill>
                <a:latin typeface="Calibri"/>
              </a:rPr>
              <a:t> with </a:t>
            </a:r>
            <a:r>
              <a:rPr sz="1300" b="0" dirty="0" err="1">
                <a:solidFill>
                  <a:srgbClr val="3D4F5C"/>
                </a:solidFill>
                <a:latin typeface="Calibri"/>
              </a:rPr>
              <a:t>Moq</a:t>
            </a:r>
            <a:endParaRPr sz="1300" b="0" dirty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Happy path, exhausted resources,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skip invalid/dup names, strategy pick</a:t>
            </a:r>
          </a:p>
          <a:p>
            <a:pPr>
              <a:spcAft>
                <a:spcPts val="400"/>
              </a:spcAft>
            </a:pPr>
            <a:r>
              <a:rPr sz="1300" b="0" dirty="0">
                <a:solidFill>
                  <a:srgbClr val="3D4F5C"/>
                </a:solidFill>
                <a:latin typeface="Calibri"/>
              </a:rPr>
              <a:t>Strict mocks via </a:t>
            </a:r>
            <a:r>
              <a:rPr sz="1300" b="0" dirty="0" err="1">
                <a:solidFill>
                  <a:srgbClr val="3D4F5C"/>
                </a:solidFill>
                <a:latin typeface="Calibri"/>
              </a:rPr>
              <a:t>BaseUnitTests</a:t>
            </a:r>
            <a:endParaRPr sz="1300" b="0" dirty="0">
              <a:solidFill>
                <a:srgbClr val="3D4F5C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Infrastructure  ·  adapter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EF repos: InMemory DB integration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Universe HTTP: mocked HttpMessageHandler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Mapping, CanHandle, error paths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8E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6B6B"/>
                </a:solidFill>
                <a:latin typeface="Calibri"/>
              </a:rPr>
              <a:t>Api  ·  pipeline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WebApplicationFactory + InMemory DB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ExternalApiMockHandler for SW/Pokémon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Real controllers → Mediator → DI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4F5C"/>
                </a:solidFill>
                <a:latin typeface="Calibri"/>
              </a:rPr>
              <a:t>Stack: xUnit · FluentAssertions · Moq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C88"/>
                </a:solidFill>
                <a:latin typeface="Calibri"/>
              </a:rPr>
              <a:t>SSS · Architecture walkthrough  ·  12/14</a:t>
            </a:r>
          </a:p>
          <a:p>
            <a:endParaRPr sz="1100" b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A"/>
                </a:solidFill>
                <a:latin typeface="Calibri"/>
              </a:rPr>
              <a:t>Why hexagonal helps testability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4300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dirty="0">
                <a:solidFill>
                  <a:srgbClr val="3D4F5C"/>
                </a:solidFill>
                <a:latin typeface="Calibri"/>
              </a:rPr>
              <a:t>Domain has no dependencies → fastest feedback on business rules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D4F5C"/>
                </a:solidFill>
                <a:latin typeface="Calibri"/>
              </a:rPr>
              <a:t>Application depends only on ports → replace DB/HTTP with </a:t>
            </a:r>
            <a:r>
              <a:rPr sz="1600" b="0" dirty="0" err="1">
                <a:solidFill>
                  <a:srgbClr val="3D4F5C"/>
                </a:solidFill>
                <a:latin typeface="Calibri"/>
              </a:rPr>
              <a:t>Moq</a:t>
            </a:r>
            <a:r>
              <a:rPr sz="1600" b="0" dirty="0">
                <a:solidFill>
                  <a:srgbClr val="3D4F5C"/>
                </a:solidFill>
                <a:latin typeface="Calibri"/>
              </a:rPr>
              <a:t> in </a:t>
            </a:r>
            <a:r>
              <a:rPr sz="1600" b="0" dirty="0" err="1">
                <a:solidFill>
                  <a:srgbClr val="3D4F5C"/>
                </a:solidFill>
                <a:latin typeface="Calibri"/>
              </a:rPr>
              <a:t>TeamManagerTests</a:t>
            </a:r>
            <a:endParaRPr sz="1600" b="0" dirty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D4F5C"/>
                </a:solidFill>
                <a:latin typeface="Calibri"/>
              </a:rPr>
              <a:t>Infrastructure adapters tested alone → fake HTTP handler / </a:t>
            </a:r>
            <a:r>
              <a:rPr sz="1600" b="0" dirty="0" err="1">
                <a:solidFill>
                  <a:srgbClr val="3D4F5C"/>
                </a:solidFill>
                <a:latin typeface="Calibri"/>
              </a:rPr>
              <a:t>InMemory</a:t>
            </a:r>
            <a:r>
              <a:rPr sz="1600" b="0" dirty="0">
                <a:solidFill>
                  <a:srgbClr val="3D4F5C"/>
                </a:solidFill>
                <a:latin typeface="Calibri"/>
              </a:rPr>
              <a:t> EF</a:t>
            </a:r>
          </a:p>
          <a:p>
            <a:pPr>
              <a:spcAft>
                <a:spcPts val="600"/>
              </a:spcAft>
            </a:pPr>
            <a:r>
              <a:rPr sz="1600" b="0" dirty="0">
                <a:solidFill>
                  <a:srgbClr val="3D4F5C"/>
                </a:solidFill>
                <a:latin typeface="Calibri"/>
              </a:rPr>
              <a:t>Api factory swaps outer rings without rewriting use cases</a:t>
            </a:r>
            <a:endParaRPr sz="1400" b="0" dirty="0">
              <a:solidFill>
                <a:srgbClr val="6B7C8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359765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Calibri"/>
              </a:rPr>
              <a:t>Improvements</a:t>
            </a:r>
            <a:endParaRPr sz="4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24497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6B7C88"/>
                </a:solidFill>
                <a:latin typeface="Calibri"/>
              </a:rPr>
              <a:t>SSS · Architecture walkthrough  ·  1</a:t>
            </a:r>
            <a:r>
              <a:rPr lang="en-US" sz="1100" b="0" dirty="0">
                <a:solidFill>
                  <a:srgbClr val="6B7C88"/>
                </a:solidFill>
                <a:latin typeface="Calibri"/>
              </a:rPr>
              <a:t>3</a:t>
            </a:r>
            <a:r>
              <a:rPr sz="1100" b="0" dirty="0">
                <a:solidFill>
                  <a:srgbClr val="6B7C88"/>
                </a:solidFill>
                <a:latin typeface="Calibri"/>
              </a:rPr>
              <a:t>/14</a:t>
            </a:r>
          </a:p>
          <a:p>
            <a:endParaRPr sz="1100" b="0" dirty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8EC49-8F4C-9B26-6856-32D31090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54E47E-E769-BFCA-3866-E4685EF43C1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5FD943-6F69-C72C-89AB-5760A75DFFCE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F1876-037E-FF75-4AEE-A8E9E25195B8}"/>
              </a:ext>
            </a:extLst>
          </p:cNvPr>
          <p:cNvSpPr txBox="1"/>
          <p:nvPr/>
        </p:nvSpPr>
        <p:spPr>
          <a:xfrm>
            <a:off x="457200" y="6446520"/>
            <a:ext cx="244971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6B7C88"/>
                </a:solidFill>
                <a:latin typeface="Calibri"/>
              </a:rPr>
              <a:t>SSS · Architecture walkthrough  ·  1</a:t>
            </a:r>
            <a:r>
              <a:rPr lang="en-US" sz="1100" b="0" dirty="0">
                <a:solidFill>
                  <a:srgbClr val="6B7C88"/>
                </a:solidFill>
                <a:latin typeface="Calibri"/>
              </a:rPr>
              <a:t>4</a:t>
            </a:r>
            <a:r>
              <a:rPr sz="1100" b="0" dirty="0">
                <a:solidFill>
                  <a:srgbClr val="6B7C88"/>
                </a:solidFill>
                <a:latin typeface="Calibri"/>
              </a:rPr>
              <a:t>/14</a:t>
            </a:r>
          </a:p>
          <a:p>
            <a:endParaRPr sz="1100" b="0" dirty="0">
              <a:solidFill>
                <a:srgbClr val="6B7C88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24899-7F06-6196-9239-2DA566DB3DDA}"/>
              </a:ext>
            </a:extLst>
          </p:cNvPr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B7C88"/>
                </a:solidFill>
                <a:latin typeface="Calibri"/>
              </a:rP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64926-52BA-AC0C-88CB-3F49E5995F1C}"/>
              </a:ext>
            </a:extLst>
          </p:cNvPr>
          <p:cNvSpPr txBox="1"/>
          <p:nvPr/>
        </p:nvSpPr>
        <p:spPr>
          <a:xfrm>
            <a:off x="457200" y="274320"/>
            <a:ext cx="35204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F2C3A"/>
                </a:solidFill>
                <a:latin typeface="Calibri"/>
              </a:rPr>
              <a:t>Areas of improvement</a:t>
            </a:r>
            <a:endParaRPr sz="2800" b="1" dirty="0">
              <a:solidFill>
                <a:srgbClr val="0F2C3A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6C532-F410-FB57-4171-0CC35355D4CA}"/>
              </a:ext>
            </a:extLst>
          </p:cNvPr>
          <p:cNvSpPr txBox="1"/>
          <p:nvPr/>
        </p:nvSpPr>
        <p:spPr>
          <a:xfrm>
            <a:off x="457200" y="1097280"/>
            <a:ext cx="114300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3D4F5C"/>
                </a:solidFill>
                <a:latin typeface="Calibri"/>
              </a:rPr>
              <a:t>“Stat” – conceptually could be abstracted into a Value Object (for ex. Weight / Height)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D4F5C"/>
                </a:solidFill>
                <a:latin typeface="Calibri"/>
              </a:rPr>
              <a:t>External services improvements – less redundant code (further abstraction), more reliable </a:t>
            </a:r>
            <a:r>
              <a:rPr lang="en-US" sz="1600">
                <a:solidFill>
                  <a:srgbClr val="3D4F5C"/>
                </a:solidFill>
                <a:latin typeface="Calibri"/>
              </a:rPr>
              <a:t>“count”</a:t>
            </a:r>
            <a:endParaRPr lang="en-US" sz="1600" b="0" dirty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3D4F5C"/>
                </a:solidFill>
                <a:latin typeface="Calibri"/>
              </a:rPr>
              <a:t>Events – to cater for external service instability, transient failures, </a:t>
            </a:r>
            <a:r>
              <a:rPr lang="en-US" sz="1600" dirty="0" err="1">
                <a:solidFill>
                  <a:srgbClr val="3D4F5C"/>
                </a:solidFill>
                <a:latin typeface="Calibri"/>
              </a:rPr>
              <a:t>etc</a:t>
            </a:r>
            <a:endParaRPr lang="en-US" sz="1600" dirty="0">
              <a:solidFill>
                <a:srgbClr val="3D4F5C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3D4F5C"/>
                </a:solidFill>
                <a:latin typeface="Calibri"/>
              </a:rPr>
              <a:t>Observability – tracing / logging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3D4F5C"/>
                </a:solidFill>
                <a:latin typeface="Calibri"/>
              </a:rPr>
              <a:t>De</a:t>
            </a:r>
            <a:r>
              <a:rPr lang="en-US" sz="1600" dirty="0">
                <a:solidFill>
                  <a:srgbClr val="3D4F5C"/>
                </a:solidFill>
                <a:latin typeface="Calibri"/>
              </a:rPr>
              <a:t>ployment – containerized to support scaling</a:t>
            </a:r>
          </a:p>
          <a:p>
            <a:pPr>
              <a:spcAft>
                <a:spcPts val="600"/>
              </a:spcAft>
            </a:pPr>
            <a:r>
              <a:rPr lang="en-US" sz="1600" b="0" dirty="0">
                <a:solidFill>
                  <a:srgbClr val="3D4F5C"/>
                </a:solidFill>
                <a:latin typeface="Calibri"/>
              </a:rPr>
              <a:t>Throttling / rate limiting – improve reliability and prevent “abuse”</a:t>
            </a:r>
            <a:endParaRPr sz="1400" b="0" dirty="0">
              <a:solidFill>
                <a:srgbClr val="6B7C88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2985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935</Words>
  <Application>Microsoft Macintosh PowerPoint</Application>
  <PresentationFormat>Widescreen</PresentationFormat>
  <Paragraphs>202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Tudor Hoinaru</cp:lastModifiedBy>
  <cp:revision>5</cp:revision>
  <dcterms:created xsi:type="dcterms:W3CDTF">2013-01-27T09:14:16Z</dcterms:created>
  <dcterms:modified xsi:type="dcterms:W3CDTF">2026-07-22T10:32:19Z</dcterms:modified>
  <cp:category/>
</cp:coreProperties>
</file>